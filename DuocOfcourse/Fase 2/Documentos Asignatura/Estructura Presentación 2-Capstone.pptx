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yxemIzPuA6OogHrURgYWzZaXQ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253120-BF3C-45D6-B932-117CCBE66983}">
  <a:tblStyle styleId="{CC253120-BF3C-45D6-B932-117CCBE669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9C1CB30-9BBC-4459-8D1B-E8C6E7B7EF0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Capstone</a:t>
            </a:r>
            <a:br>
              <a:rPr lang="es-CL"/>
            </a:br>
            <a:r>
              <a:rPr lang="es-CL" sz="3200"/>
              <a:t>“Duoc OfCourse”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6" y="1382434"/>
            <a:ext cx="6781052" cy="3415887"/>
            <a:chOff x="0" y="0"/>
            <a:chExt cx="6781052" cy="3415887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Nicolás Canales</a:t>
              </a:r>
              <a:endPara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Cargo: 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Documentación.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Benjamín Gamboa</a:t>
              </a:r>
              <a:endPara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: Desarrollador Backend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Documentación y prototipo.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Benjamín Guajardo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Cargo: Desarrollador Frontend/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DBA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Documentación y prototipo.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661527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06" name="Google Shape;106;p8"/>
          <p:cNvSpPr txBox="1"/>
          <p:nvPr/>
        </p:nvSpPr>
        <p:spPr>
          <a:xfrm>
            <a:off x="661517" y="1868656"/>
            <a:ext cx="999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8" title="Modelo relacional B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527" y="1068500"/>
            <a:ext cx="6819449" cy="56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725725" y="1712675"/>
            <a:ext cx="360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r>
              <a:rPr lang="es-CL"/>
              <a:t> Duoc OfCourse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7477075" y="1712675"/>
            <a:ext cx="40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r>
              <a:rPr lang="es-CL">
                <a:solidFill>
                  <a:schemeClr val="dk1"/>
                </a:solidFill>
              </a:rPr>
              <a:t> Duoc OfCourseAdmin</a:t>
            </a:r>
            <a:endParaRPr/>
          </a:p>
        </p:txBody>
      </p:sp>
      <p:pic>
        <p:nvPicPr>
          <p:cNvPr id="115" name="Google Shape;115;p9" title="Diagrama casos de uso Duoc OfCou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34375"/>
            <a:ext cx="5291132" cy="447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9" title="Diagrama casos de uso Duoc OfCourseAdm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2457" y="2326775"/>
            <a:ext cx="5687864" cy="437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type="title"/>
          </p:nvPr>
        </p:nvSpPr>
        <p:spPr>
          <a:xfrm>
            <a:off x="663024" y="937883"/>
            <a:ext cx="10515600" cy="636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663024" y="1676401"/>
            <a:ext cx="108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arquitectónico seleccionado para el desarrollo y Diagrama Vista Física: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 title="Diagrama de desplieg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350" y="2147301"/>
            <a:ext cx="8845408" cy="450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5921150" y="1060750"/>
            <a:ext cx="281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Actividades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1" title="Crear cur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8613" y="2517427"/>
            <a:ext cx="3608900" cy="413117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 txBox="1"/>
          <p:nvPr/>
        </p:nvSpPr>
        <p:spPr>
          <a:xfrm>
            <a:off x="5419363" y="2148125"/>
            <a:ext cx="12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curso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1" title="Realizar curso y Calcular calificac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4850" y="2553937"/>
            <a:ext cx="3154201" cy="41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 txBox="1"/>
          <p:nvPr/>
        </p:nvSpPr>
        <p:spPr>
          <a:xfrm>
            <a:off x="9441350" y="2148125"/>
            <a:ext cx="174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1" title="Logi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322" y="2517425"/>
            <a:ext cx="3225378" cy="413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1"/>
          <p:cNvSpPr txBox="1"/>
          <p:nvPr/>
        </p:nvSpPr>
        <p:spPr>
          <a:xfrm>
            <a:off x="947412" y="2062875"/>
            <a:ext cx="174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Iniciar sesión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41" name="Google Shape;141;p12"/>
          <p:cNvSpPr txBox="1"/>
          <p:nvPr/>
        </p:nvSpPr>
        <p:spPr>
          <a:xfrm>
            <a:off x="641252" y="1828016"/>
            <a:ext cx="108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Breve descripción de las tecnologías y versiones utilizadas para el desarrollo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 txBox="1"/>
          <p:nvPr/>
        </p:nvSpPr>
        <p:spPr>
          <a:xfrm>
            <a:off x="641252" y="2518091"/>
            <a:ext cx="108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de escritorio: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Visual Studio 2022, .NET 9.0, Lenguaje C#.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665402" y="3045866"/>
            <a:ext cx="108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MySQL, hosteada con XAMPP,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665400" y="3573650"/>
            <a:ext cx="1137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Framework .Net 8.0,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EF 7.0, Lenguaje C#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Distribuido en capas (Repository, Service, Controller)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Levantamiento de API mediante JSON, 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través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ambiente Swagger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665400" y="4688450"/>
            <a:ext cx="1137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19.2, Framework TailwindCSS 3.4.13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Libreria Axios(Consumo API)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874089" y="2028312"/>
            <a:ext cx="499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los hitos significativos del proyecto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874089" y="2769112"/>
            <a:ext cx="49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" name="Google Shape;153;p13"/>
          <p:cNvGraphicFramePr/>
          <p:nvPr/>
        </p:nvGraphicFramePr>
        <p:xfrm>
          <a:off x="952500" y="28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{CC253120-BF3C-45D6-B932-117CCBE66983}</a:tableStyleId>
              </a:tblPr>
              <a:tblGrid>
                <a:gridCol w="3094225"/>
                <a:gridCol w="7192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/>
                        <a:t>Fecha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/>
                        <a:t>Acción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02/10/2025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Presentación y entrega de documentos de la primera </a:t>
                      </a:r>
                      <a:r>
                        <a:rPr lang="es-CL"/>
                        <a:t>evaluación</a:t>
                      </a:r>
                      <a:r>
                        <a:rPr lang="es-CL"/>
                        <a:t>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20/11/2025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Entrega de documentación Segunda entrega.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27/11/2025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Presentación del desarrollo del proyecto funcionando en su totalidad.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04/12/2025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Presentación del producto final con cambios.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>
            <p:ph type="title"/>
          </p:nvPr>
        </p:nvSpPr>
        <p:spPr>
          <a:xfrm>
            <a:off x="710252" y="775322"/>
            <a:ext cx="10515600" cy="1118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graphicFrame>
        <p:nvGraphicFramePr>
          <p:cNvPr id="159" name="Google Shape;159;p14"/>
          <p:cNvGraphicFramePr/>
          <p:nvPr/>
        </p:nvGraphicFramePr>
        <p:xfrm>
          <a:off x="710250" y="250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{C9C1CB30-9BBC-4459-8D1B-E8C6E7B7EF02}</a:tableStyleId>
              </a:tblPr>
              <a:tblGrid>
                <a:gridCol w="3242150"/>
                <a:gridCol w="1447375"/>
              </a:tblGrid>
              <a:tr h="38595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/>
                        <a:t>Costos del desarrollo del proyecto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159:0:0"/>
                      </a:ext>
                    </a:extLst>
                  </a:tcPr>
                </a:tc>
                <a:tc hMerge="1"/>
              </a:tr>
              <a:tr h="385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/>
                        <a:t>Item</a:t>
                      </a:r>
                      <a:endParaRPr b="1" sz="1500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  <a:extLst>
                      <a:ext uri="http://customooxmlschemas.google.com/">
                        <go:slidesCustomData xmlns:go="http://customooxmlschemas.google.com/" cellId="15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/>
                        <a:t>Monto</a:t>
                      </a:r>
                      <a:endParaRPr b="1" sz="1500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  <a:extLst>
                      <a:ext uri="http://customooxmlschemas.google.com/">
                        <go:slidesCustomData xmlns:go="http://customooxmlschemas.google.com/" cellId="159:1:1"/>
                      </a:ext>
                    </a:extLst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Análisis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15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$183.125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9:2:1"/>
                      </a:ext>
                    </a:extLst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Diseño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159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$380.000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9:3:1"/>
                      </a:ext>
                    </a:extLst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Desarrollo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159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$5.566.250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9:4:1"/>
                      </a:ext>
                    </a:extLst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Pruebas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159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$481.250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9:5:1"/>
                      </a:ext>
                    </a:extLst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Implementación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159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$370.000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9:6:1"/>
                      </a:ext>
                    </a:extLst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Total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9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$6.980.625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9:7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60" name="Google Shape;160;p14"/>
          <p:cNvGraphicFramePr/>
          <p:nvPr/>
        </p:nvGraphicFramePr>
        <p:xfrm>
          <a:off x="6097350" y="250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{C9C1CB30-9BBC-4459-8D1B-E8C6E7B7EF02}</a:tableStyleId>
              </a:tblPr>
              <a:tblGrid>
                <a:gridCol w="2633125"/>
                <a:gridCol w="1837325"/>
              </a:tblGrid>
              <a:tr h="38597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/>
                        <a:t>Costes mensuales de lanzamiento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</a:tr>
              <a:tr h="385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Infraestructura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$600.000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Soporte y mantención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$200.000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Total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/>
                        <a:t>$800.000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/>
        </p:nvSpPr>
        <p:spPr>
          <a:xfrm>
            <a:off x="565108" y="1372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del sistema desarrollado en vivo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